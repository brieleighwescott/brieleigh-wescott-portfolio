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8C51469-05EE-479F-B6C6-1B33CCF1E28D}">
  <a:tblStyle styleId="{48C51469-05EE-479F-B6C6-1B33CCF1E28D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f5fd25d65c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g3f5fd25d65c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f5fd25d65c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g3f5fd25d65c_0_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f5fd25d65c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g3f5fd25d65c_0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f5fd25d65c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g3f5fd25d65c_0_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f5fd25d65c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g3f5fd25d65c_0_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1" type="secHead">
  <p:cSld name="SECTION_HEADER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885" y="-1"/>
            <a:ext cx="12180229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"/>
          <p:cNvSpPr txBox="1"/>
          <p:nvPr>
            <p:ph type="title"/>
          </p:nvPr>
        </p:nvSpPr>
        <p:spPr>
          <a:xfrm>
            <a:off x="424346" y="4423719"/>
            <a:ext cx="8898558" cy="127181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Impact"/>
              <a:buNone/>
              <a:defRPr sz="60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" type="body"/>
          </p:nvPr>
        </p:nvSpPr>
        <p:spPr>
          <a:xfrm>
            <a:off x="424346" y="5722524"/>
            <a:ext cx="8898558" cy="668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b="1" sz="24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2">
  <p:cSld name="Title Slide2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884" y="-1"/>
            <a:ext cx="1218023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"/>
          <p:cNvSpPr txBox="1"/>
          <p:nvPr>
            <p:ph type="title"/>
          </p:nvPr>
        </p:nvSpPr>
        <p:spPr>
          <a:xfrm>
            <a:off x="424346" y="4423719"/>
            <a:ext cx="8898558" cy="127181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Impact"/>
              <a:buNone/>
              <a:defRPr sz="60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" type="body"/>
          </p:nvPr>
        </p:nvSpPr>
        <p:spPr>
          <a:xfrm>
            <a:off x="424346" y="5722524"/>
            <a:ext cx="8898558" cy="668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b="1" sz="24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3">
  <p:cSld name="Title Slide3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emale student in a red shirt writing on a clear dry-erase board with the Florida Tech logo in the top right corner." id="20" name="Google Shape;20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884" y="-1"/>
            <a:ext cx="1218023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4"/>
          <p:cNvSpPr txBox="1"/>
          <p:nvPr>
            <p:ph type="title"/>
          </p:nvPr>
        </p:nvSpPr>
        <p:spPr>
          <a:xfrm>
            <a:off x="424346" y="4423719"/>
            <a:ext cx="8898558" cy="127181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Impact"/>
              <a:buNone/>
              <a:defRPr sz="60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24346" y="5722524"/>
            <a:ext cx="8898558" cy="668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b="1" sz="24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4">
  <p:cSld name="Title Slide4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ark gray abstract background with the Florida Tech logo in the top right corner." id="24" name="Google Shape;24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884" y="-1"/>
            <a:ext cx="12180231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5"/>
          <p:cNvSpPr txBox="1"/>
          <p:nvPr>
            <p:ph type="title"/>
          </p:nvPr>
        </p:nvSpPr>
        <p:spPr>
          <a:xfrm>
            <a:off x="424346" y="4423719"/>
            <a:ext cx="8898558" cy="127181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Impact"/>
              <a:buNone/>
              <a:defRPr sz="60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424346" y="5722524"/>
            <a:ext cx="8898558" cy="668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b="1" sz="24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5">
  <p:cSld name="Title Slide5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ark blue abstract background with the Florida Tech logo in the top right corner." id="28" name="Google Shape;28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885" y="-1"/>
            <a:ext cx="12180229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6"/>
          <p:cNvSpPr txBox="1"/>
          <p:nvPr>
            <p:ph type="title"/>
          </p:nvPr>
        </p:nvSpPr>
        <p:spPr>
          <a:xfrm>
            <a:off x="424346" y="4423719"/>
            <a:ext cx="8898558" cy="127181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Impact"/>
              <a:buNone/>
              <a:defRPr sz="60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" type="body"/>
          </p:nvPr>
        </p:nvSpPr>
        <p:spPr>
          <a:xfrm>
            <a:off x="424346" y="5722524"/>
            <a:ext cx="8898558" cy="668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b="1" sz="24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Content1">
  <p:cSld name="Main Content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Impact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41" name="Google Shape;41;p8"/>
          <p:cNvSpPr txBox="1"/>
          <p:nvPr>
            <p:ph idx="2" type="body"/>
          </p:nvPr>
        </p:nvSpPr>
        <p:spPr>
          <a:xfrm>
            <a:off x="424346" y="6356350"/>
            <a:ext cx="1371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3" type="body"/>
          </p:nvPr>
        </p:nvSpPr>
        <p:spPr>
          <a:xfrm>
            <a:off x="2141034" y="6356350"/>
            <a:ext cx="611086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8"/>
          <p:cNvSpPr txBox="1"/>
          <p:nvPr>
            <p:ph idx="4" type="body"/>
          </p:nvPr>
        </p:nvSpPr>
        <p:spPr>
          <a:xfrm>
            <a:off x="8593873" y="6356350"/>
            <a:ext cx="1371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Content2">
  <p:cSld name="Main Content2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 txBox="1"/>
          <p:nvPr>
            <p:ph type="title"/>
          </p:nvPr>
        </p:nvSpPr>
        <p:spPr>
          <a:xfrm>
            <a:off x="424347" y="365125"/>
            <a:ext cx="10013194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9"/>
          <p:cNvSpPr txBox="1"/>
          <p:nvPr>
            <p:ph idx="1" type="body"/>
          </p:nvPr>
        </p:nvSpPr>
        <p:spPr>
          <a:xfrm>
            <a:off x="424345" y="1825625"/>
            <a:ext cx="10013195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2" type="body"/>
          </p:nvPr>
        </p:nvSpPr>
        <p:spPr>
          <a:xfrm>
            <a:off x="424346" y="6356350"/>
            <a:ext cx="1371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3" type="body"/>
          </p:nvPr>
        </p:nvSpPr>
        <p:spPr>
          <a:xfrm>
            <a:off x="2141034" y="6356350"/>
            <a:ext cx="611086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4" type="body"/>
          </p:nvPr>
        </p:nvSpPr>
        <p:spPr>
          <a:xfrm>
            <a:off x="8593873" y="6356350"/>
            <a:ext cx="1371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Content3">
  <p:cSld name="Main Content3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 txBox="1"/>
          <p:nvPr>
            <p:ph type="title"/>
          </p:nvPr>
        </p:nvSpPr>
        <p:spPr>
          <a:xfrm>
            <a:off x="424346" y="365125"/>
            <a:ext cx="1001319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429322" y="1825625"/>
            <a:ext cx="4871224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10"/>
          <p:cNvSpPr txBox="1"/>
          <p:nvPr>
            <p:ph idx="2" type="body"/>
          </p:nvPr>
        </p:nvSpPr>
        <p:spPr>
          <a:xfrm>
            <a:off x="5566317" y="1825625"/>
            <a:ext cx="4871224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10"/>
          <p:cNvSpPr txBox="1"/>
          <p:nvPr>
            <p:ph idx="3" type="body"/>
          </p:nvPr>
        </p:nvSpPr>
        <p:spPr>
          <a:xfrm>
            <a:off x="424346" y="6356350"/>
            <a:ext cx="1371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10"/>
          <p:cNvSpPr txBox="1"/>
          <p:nvPr>
            <p:ph idx="4" type="body"/>
          </p:nvPr>
        </p:nvSpPr>
        <p:spPr>
          <a:xfrm>
            <a:off x="2141034" y="6356350"/>
            <a:ext cx="611086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5" type="body"/>
          </p:nvPr>
        </p:nvSpPr>
        <p:spPr>
          <a:xfrm>
            <a:off x="8593873" y="6356350"/>
            <a:ext cx="1371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Content4">
  <p:cSld name="Main Content4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type="title"/>
          </p:nvPr>
        </p:nvSpPr>
        <p:spPr>
          <a:xfrm>
            <a:off x="424346" y="365125"/>
            <a:ext cx="1001319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30911" y="1681163"/>
            <a:ext cx="486850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b="1" sz="2400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0" name="Google Shape;60;p11"/>
          <p:cNvSpPr txBox="1"/>
          <p:nvPr>
            <p:ph idx="2" type="body"/>
          </p:nvPr>
        </p:nvSpPr>
        <p:spPr>
          <a:xfrm>
            <a:off x="430911" y="2505075"/>
            <a:ext cx="4861932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" name="Google Shape;61;p11"/>
          <p:cNvSpPr txBox="1"/>
          <p:nvPr>
            <p:ph idx="3" type="body"/>
          </p:nvPr>
        </p:nvSpPr>
        <p:spPr>
          <a:xfrm>
            <a:off x="5569042" y="1681163"/>
            <a:ext cx="486850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b="1" sz="2400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2" name="Google Shape;62;p11"/>
          <p:cNvSpPr txBox="1"/>
          <p:nvPr>
            <p:ph idx="4" type="body"/>
          </p:nvPr>
        </p:nvSpPr>
        <p:spPr>
          <a:xfrm>
            <a:off x="5575609" y="2505075"/>
            <a:ext cx="4861932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424346" y="6356350"/>
            <a:ext cx="1371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6" type="body"/>
          </p:nvPr>
        </p:nvSpPr>
        <p:spPr>
          <a:xfrm>
            <a:off x="2141034" y="6356350"/>
            <a:ext cx="611086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7" type="body"/>
          </p:nvPr>
        </p:nvSpPr>
        <p:spPr>
          <a:xfrm>
            <a:off x="8593873" y="6356350"/>
            <a:ext cx="1371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Content5">
  <p:cSld name="Main Content5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type="title"/>
          </p:nvPr>
        </p:nvSpPr>
        <p:spPr>
          <a:xfrm>
            <a:off x="424346" y="365125"/>
            <a:ext cx="1001319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2"/>
          <p:cNvSpPr txBox="1"/>
          <p:nvPr>
            <p:ph idx="1" type="body"/>
          </p:nvPr>
        </p:nvSpPr>
        <p:spPr>
          <a:xfrm>
            <a:off x="430910" y="1681163"/>
            <a:ext cx="322642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b="1" sz="2400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9" name="Google Shape;69;p12"/>
          <p:cNvSpPr txBox="1"/>
          <p:nvPr>
            <p:ph idx="2" type="body"/>
          </p:nvPr>
        </p:nvSpPr>
        <p:spPr>
          <a:xfrm>
            <a:off x="430909" y="2505075"/>
            <a:ext cx="321871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3" type="body"/>
          </p:nvPr>
        </p:nvSpPr>
        <p:spPr>
          <a:xfrm>
            <a:off x="3817161" y="1681163"/>
            <a:ext cx="322642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b="1" sz="2400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71" name="Google Shape;71;p12"/>
          <p:cNvSpPr txBox="1"/>
          <p:nvPr>
            <p:ph idx="4" type="body"/>
          </p:nvPr>
        </p:nvSpPr>
        <p:spPr>
          <a:xfrm>
            <a:off x="3824869" y="2505075"/>
            <a:ext cx="3218712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5" type="body"/>
          </p:nvPr>
        </p:nvSpPr>
        <p:spPr>
          <a:xfrm>
            <a:off x="7211121" y="1681163"/>
            <a:ext cx="3226419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b="1" sz="2400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73" name="Google Shape;73;p12"/>
          <p:cNvSpPr txBox="1"/>
          <p:nvPr>
            <p:ph idx="6" type="body"/>
          </p:nvPr>
        </p:nvSpPr>
        <p:spPr>
          <a:xfrm>
            <a:off x="7211120" y="2505075"/>
            <a:ext cx="322642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12"/>
          <p:cNvSpPr txBox="1"/>
          <p:nvPr>
            <p:ph idx="7" type="body"/>
          </p:nvPr>
        </p:nvSpPr>
        <p:spPr>
          <a:xfrm>
            <a:off x="424346" y="6356350"/>
            <a:ext cx="1371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2"/>
          <p:cNvSpPr txBox="1"/>
          <p:nvPr>
            <p:ph idx="8" type="body"/>
          </p:nvPr>
        </p:nvSpPr>
        <p:spPr>
          <a:xfrm>
            <a:off x="2141034" y="6356350"/>
            <a:ext cx="611086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9" type="body"/>
          </p:nvPr>
        </p:nvSpPr>
        <p:spPr>
          <a:xfrm>
            <a:off x="8593873" y="6356350"/>
            <a:ext cx="1371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Content6">
  <p:cSld name="Main Content6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3"/>
          <p:cNvSpPr txBox="1"/>
          <p:nvPr>
            <p:ph type="title"/>
          </p:nvPr>
        </p:nvSpPr>
        <p:spPr>
          <a:xfrm>
            <a:off x="424346" y="365125"/>
            <a:ext cx="1001319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" type="body"/>
          </p:nvPr>
        </p:nvSpPr>
        <p:spPr>
          <a:xfrm>
            <a:off x="424346" y="6356350"/>
            <a:ext cx="1371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p13"/>
          <p:cNvSpPr txBox="1"/>
          <p:nvPr>
            <p:ph idx="2" type="body"/>
          </p:nvPr>
        </p:nvSpPr>
        <p:spPr>
          <a:xfrm>
            <a:off x="2141034" y="6356350"/>
            <a:ext cx="611086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3"/>
          <p:cNvSpPr txBox="1"/>
          <p:nvPr>
            <p:ph idx="3" type="body"/>
          </p:nvPr>
        </p:nvSpPr>
        <p:spPr>
          <a:xfrm>
            <a:off x="8593873" y="6356350"/>
            <a:ext cx="1371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Content7">
  <p:cSld name="Main Content7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/>
          <p:nvPr>
            <p:ph idx="1" type="body"/>
          </p:nvPr>
        </p:nvSpPr>
        <p:spPr>
          <a:xfrm>
            <a:off x="424346" y="6356350"/>
            <a:ext cx="1371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14"/>
          <p:cNvSpPr txBox="1"/>
          <p:nvPr>
            <p:ph idx="2" type="body"/>
          </p:nvPr>
        </p:nvSpPr>
        <p:spPr>
          <a:xfrm>
            <a:off x="2141034" y="6356350"/>
            <a:ext cx="611086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14"/>
          <p:cNvSpPr txBox="1"/>
          <p:nvPr>
            <p:ph idx="3" type="body"/>
          </p:nvPr>
        </p:nvSpPr>
        <p:spPr>
          <a:xfrm>
            <a:off x="8593873" y="6356350"/>
            <a:ext cx="1371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3.jpg"/><Relationship Id="rId2" Type="http://schemas.openxmlformats.org/officeDocument/2006/relationships/slideLayout" Target="../slideLayouts/slideLayout6.xml"/><Relationship Id="rId3" Type="http://schemas.openxmlformats.org/officeDocument/2006/relationships/slideLayout" Target="../slideLayouts/slideLayout7.xml"/><Relationship Id="rId4" Type="http://schemas.openxmlformats.org/officeDocument/2006/relationships/slideLayout" Target="../slideLayouts/slideLayout8.xml"/><Relationship Id="rId9" Type="http://schemas.openxmlformats.org/officeDocument/2006/relationships/theme" Target="../theme/theme2.xml"/><Relationship Id="rId5" Type="http://schemas.openxmlformats.org/officeDocument/2006/relationships/slideLayout" Target="../slideLayouts/slideLayout9.xml"/><Relationship Id="rId6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1.xml"/><Relationship Id="rId8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Impact"/>
              <a:buNone/>
              <a:defRPr b="0" i="0" sz="4400" u="none" cap="none" strike="noStrik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55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3302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3302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ight gray abstract background with a red bar along the bottom and the Florida Tech logo in the bottom right corner." id="32" name="Google Shape;32;p7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-1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7"/>
          <p:cNvSpPr txBox="1"/>
          <p:nvPr>
            <p:ph type="title"/>
          </p:nvPr>
        </p:nvSpPr>
        <p:spPr>
          <a:xfrm>
            <a:off x="424346" y="365125"/>
            <a:ext cx="1001319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Impact"/>
              <a:buNone/>
              <a:defRPr b="0" i="0" sz="4400" u="none" cap="none" strike="noStrike">
                <a:solidFill>
                  <a:schemeClr val="accent1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424346" y="1825625"/>
            <a:ext cx="10013195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5" name="Google Shape;35;p7"/>
          <p:cNvSpPr txBox="1"/>
          <p:nvPr>
            <p:ph idx="10" type="dt"/>
          </p:nvPr>
        </p:nvSpPr>
        <p:spPr>
          <a:xfrm>
            <a:off x="424346" y="6356350"/>
            <a:ext cx="1371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9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6" name="Google Shape;36;p7"/>
          <p:cNvSpPr txBox="1"/>
          <p:nvPr>
            <p:ph idx="11" type="ftr"/>
          </p:nvPr>
        </p:nvSpPr>
        <p:spPr>
          <a:xfrm>
            <a:off x="2141034" y="6356350"/>
            <a:ext cx="611086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9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7" name="Google Shape;37;p7"/>
          <p:cNvSpPr txBox="1"/>
          <p:nvPr>
            <p:ph idx="12" type="sldNum"/>
          </p:nvPr>
        </p:nvSpPr>
        <p:spPr>
          <a:xfrm>
            <a:off x="8593873" y="6356350"/>
            <a:ext cx="1371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1" i="0" sz="9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rtl="0" algn="r">
              <a:spcBef>
                <a:spcPts val="0"/>
              </a:spcBef>
              <a:buNone/>
              <a:defRPr b="1" i="0" sz="9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rtl="0" algn="r">
              <a:spcBef>
                <a:spcPts val="0"/>
              </a:spcBef>
              <a:buNone/>
              <a:defRPr b="1" i="0" sz="9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rtl="0" algn="r">
              <a:spcBef>
                <a:spcPts val="0"/>
              </a:spcBef>
              <a:buNone/>
              <a:defRPr b="1" i="0" sz="9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rtl="0" algn="r">
              <a:spcBef>
                <a:spcPts val="0"/>
              </a:spcBef>
              <a:buNone/>
              <a:defRPr b="1" i="0" sz="9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rtl="0" algn="r">
              <a:spcBef>
                <a:spcPts val="0"/>
              </a:spcBef>
              <a:buNone/>
              <a:defRPr b="1" i="0" sz="9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rtl="0" algn="r">
              <a:spcBef>
                <a:spcPts val="0"/>
              </a:spcBef>
              <a:buNone/>
              <a:defRPr b="1" i="0" sz="9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rtl="0" algn="r">
              <a:spcBef>
                <a:spcPts val="0"/>
              </a:spcBef>
              <a:buNone/>
              <a:defRPr b="1" i="0" sz="9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rtl="0" algn="r">
              <a:spcBef>
                <a:spcPts val="0"/>
              </a:spcBef>
              <a:buNone/>
              <a:defRPr b="1" i="0" sz="9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7.png"/><Relationship Id="rId5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5"/>
          <p:cNvSpPr txBox="1"/>
          <p:nvPr>
            <p:ph type="title"/>
          </p:nvPr>
        </p:nvSpPr>
        <p:spPr>
          <a:xfrm>
            <a:off x="424325" y="2467650"/>
            <a:ext cx="8898600" cy="30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Impact"/>
              <a:buNone/>
            </a:pPr>
            <a:r>
              <a:rPr lang="en-US"/>
              <a:t>3D Radiomics Analysis of Lung CT Images Using the LIDC-IDRI Dataset</a:t>
            </a:r>
            <a:endParaRPr/>
          </a:p>
        </p:txBody>
      </p:sp>
      <p:sp>
        <p:nvSpPr>
          <p:cNvPr id="91" name="Google Shape;91;p15"/>
          <p:cNvSpPr txBox="1"/>
          <p:nvPr>
            <p:ph idx="1" type="body"/>
          </p:nvPr>
        </p:nvSpPr>
        <p:spPr>
          <a:xfrm>
            <a:off x="424346" y="5722524"/>
            <a:ext cx="8898558" cy="668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None/>
            </a:pPr>
            <a:r>
              <a:rPr lang="en-US"/>
              <a:t>Brieleigh Wescott • 08/15/2026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6"/>
          <p:cNvSpPr txBox="1"/>
          <p:nvPr>
            <p:ph type="title"/>
          </p:nvPr>
        </p:nvSpPr>
        <p:spPr>
          <a:xfrm>
            <a:off x="424346" y="365125"/>
            <a:ext cx="100131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Impact"/>
              <a:buNone/>
            </a:pPr>
            <a:r>
              <a:rPr lang="en-US"/>
              <a:t>About LIDC-IDRI</a:t>
            </a:r>
            <a:endParaRPr/>
          </a:p>
        </p:txBody>
      </p:sp>
      <p:sp>
        <p:nvSpPr>
          <p:cNvPr id="97" name="Google Shape;97;p16"/>
          <p:cNvSpPr txBox="1"/>
          <p:nvPr>
            <p:ph idx="1" type="body"/>
          </p:nvPr>
        </p:nvSpPr>
        <p:spPr>
          <a:xfrm>
            <a:off x="429322" y="1825625"/>
            <a:ext cx="4871224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55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1429"/>
              <a:buFont typeface="Arial"/>
              <a:buNone/>
            </a:pPr>
            <a:r>
              <a:rPr lang="en-US" sz="3500"/>
              <a:t>Include</a:t>
            </a:r>
            <a:endParaRPr sz="3500"/>
          </a:p>
          <a:p>
            <a:pPr indent="-350838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Verdana"/>
              <a:buChar char="●"/>
            </a:pPr>
            <a:r>
              <a:rPr lang="en-US" sz="3500"/>
              <a:t>1,018 patients</a:t>
            </a:r>
            <a:endParaRPr sz="3500"/>
          </a:p>
          <a:p>
            <a:pPr indent="-35083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Verdana"/>
              <a:buChar char="●"/>
            </a:pPr>
            <a:r>
              <a:rPr lang="en-US" sz="3500"/>
              <a:t>Thoracic CT scans</a:t>
            </a:r>
            <a:endParaRPr sz="3500"/>
          </a:p>
          <a:p>
            <a:pPr indent="-35083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Verdana"/>
              <a:buChar char="●"/>
            </a:pPr>
            <a:r>
              <a:rPr lang="en-US" sz="3500"/>
              <a:t>Over 6,800 radiologist annotations</a:t>
            </a:r>
            <a:endParaRPr sz="3500"/>
          </a:p>
          <a:p>
            <a:pPr indent="-35083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Verdana"/>
              <a:buChar char="●"/>
            </a:pPr>
            <a:r>
              <a:rPr lang="en-US" sz="3500"/>
              <a:t>Up to four thoracic radiologists reviewed each scan</a:t>
            </a:r>
            <a:endParaRPr sz="3500"/>
          </a:p>
          <a:p>
            <a:pPr indent="-35083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Verdana"/>
              <a:buChar char="●"/>
            </a:pPr>
            <a:r>
              <a:rPr lang="en-US" sz="3500"/>
              <a:t>Multiple ratings describing each nodule</a:t>
            </a:r>
            <a:endParaRPr sz="3500"/>
          </a:p>
          <a:p>
            <a:pPr indent="-35083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Verdana"/>
              <a:buChar char="●"/>
            </a:pPr>
            <a:r>
              <a:rPr lang="en-US" sz="3500"/>
              <a:t>Publicly available through TCIA</a:t>
            </a:r>
            <a:endParaRPr sz="3500"/>
          </a:p>
          <a:p>
            <a:pPr indent="0" lvl="0" marL="228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98" name="Google Shape;98;p16"/>
          <p:cNvSpPr txBox="1"/>
          <p:nvPr>
            <p:ph idx="3" type="body"/>
          </p:nvPr>
        </p:nvSpPr>
        <p:spPr>
          <a:xfrm>
            <a:off x="424346" y="6356350"/>
            <a:ext cx="1371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</a:pPr>
            <a:r>
              <a:rPr lang="en-US"/>
              <a:t>07/30/2026</a:t>
            </a:r>
            <a:endParaRPr/>
          </a:p>
        </p:txBody>
      </p:sp>
      <p:sp>
        <p:nvSpPr>
          <p:cNvPr id="99" name="Google Shape;99;p16"/>
          <p:cNvSpPr txBox="1"/>
          <p:nvPr>
            <p:ph idx="4" type="body"/>
          </p:nvPr>
        </p:nvSpPr>
        <p:spPr>
          <a:xfrm>
            <a:off x="2141034" y="6356350"/>
            <a:ext cx="611086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</a:pPr>
            <a:r>
              <a:rPr lang="en-US"/>
              <a:t>Brieleigh Wescott</a:t>
            </a:r>
            <a:endParaRPr/>
          </a:p>
        </p:txBody>
      </p:sp>
      <p:sp>
        <p:nvSpPr>
          <p:cNvPr id="100" name="Google Shape;100;p16"/>
          <p:cNvSpPr txBox="1"/>
          <p:nvPr>
            <p:ph idx="5" type="body"/>
          </p:nvPr>
        </p:nvSpPr>
        <p:spPr>
          <a:xfrm>
            <a:off x="8593873" y="6356350"/>
            <a:ext cx="1371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</a:pPr>
            <a:r>
              <a:rPr lang="en-US"/>
              <a:t>(Slide No.)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1" name="Google Shape;10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35000" y="603625"/>
            <a:ext cx="5558748" cy="166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83850" y="2843100"/>
            <a:ext cx="3153597" cy="31535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 txBox="1"/>
          <p:nvPr>
            <p:ph idx="1" type="body"/>
          </p:nvPr>
        </p:nvSpPr>
        <p:spPr>
          <a:xfrm>
            <a:off x="427675" y="1022250"/>
            <a:ext cx="4868400" cy="1165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/>
              <a:t>Structure</a:t>
            </a:r>
            <a:endParaRPr/>
          </a:p>
        </p:txBody>
      </p:sp>
      <p:sp>
        <p:nvSpPr>
          <p:cNvPr id="108" name="Google Shape;108;p17"/>
          <p:cNvSpPr txBox="1"/>
          <p:nvPr>
            <p:ph idx="2" type="body"/>
          </p:nvPr>
        </p:nvSpPr>
        <p:spPr>
          <a:xfrm>
            <a:off x="430900" y="2276825"/>
            <a:ext cx="49980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Patient</a:t>
            </a:r>
            <a:r>
              <a:rPr lang="en-US"/>
              <a:t>  —</a:t>
            </a:r>
            <a:r>
              <a:rPr lang="en-US"/>
              <a:t>|</a:t>
            </a:r>
            <a:endParaRPr/>
          </a:p>
          <a:p>
            <a:pPr indent="304800" lvl="0" marL="1066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├── Tumor 1 </a:t>
            </a:r>
            <a:endParaRPr/>
          </a:p>
          <a:p>
            <a:pPr indent="304800" lvl="0" marL="1066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│ </a:t>
            </a:r>
            <a:endParaRPr/>
          </a:p>
          <a:p>
            <a:pPr indent="304800" lvl="0" marL="1066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├── Tumor 2 </a:t>
            </a:r>
            <a:endParaRPr/>
          </a:p>
          <a:p>
            <a:pPr indent="304800" lvl="0" marL="1066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│ </a:t>
            </a:r>
            <a:endParaRPr/>
          </a:p>
          <a:p>
            <a:pPr indent="304800" lvl="0" marL="1066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└── Tumor 3 </a:t>
            </a:r>
            <a:endParaRPr/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en-US"/>
              <a:t>One patient ≠ One tumor</a:t>
            </a:r>
            <a:endParaRPr/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en-US"/>
              <a:t>Our Dataset= One row per tumor</a:t>
            </a:r>
            <a:endParaRPr/>
          </a:p>
          <a:p>
            <a:pPr indent="304800" lvl="0" marL="10668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109" name="Google Shape;109;p17"/>
          <p:cNvSpPr txBox="1"/>
          <p:nvPr>
            <p:ph idx="3" type="body"/>
          </p:nvPr>
        </p:nvSpPr>
        <p:spPr>
          <a:xfrm>
            <a:off x="5569050" y="1458950"/>
            <a:ext cx="4868400" cy="72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/>
              <a:t>Download Pipeline</a:t>
            </a:r>
            <a:endParaRPr/>
          </a:p>
        </p:txBody>
      </p:sp>
      <p:sp>
        <p:nvSpPr>
          <p:cNvPr id="110" name="Google Shape;110;p17"/>
          <p:cNvSpPr txBox="1"/>
          <p:nvPr>
            <p:ph idx="4" type="body"/>
          </p:nvPr>
        </p:nvSpPr>
        <p:spPr>
          <a:xfrm>
            <a:off x="5575600" y="2338213"/>
            <a:ext cx="4861800" cy="38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228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en-US"/>
              <a:t>TCIA</a:t>
            </a:r>
            <a:endParaRPr/>
          </a:p>
          <a:p>
            <a:pPr indent="0" lvl="0" marL="228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t/>
            </a:r>
            <a:endParaRPr/>
          </a:p>
          <a:p>
            <a:pPr indent="0" lvl="0" marL="228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en-US"/>
              <a:t>↓</a:t>
            </a:r>
            <a:endParaRPr/>
          </a:p>
          <a:p>
            <a:pPr indent="0" lvl="0" marL="228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t/>
            </a:r>
            <a:endParaRPr/>
          </a:p>
          <a:p>
            <a:pPr indent="0" lvl="0" marL="228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en-US"/>
              <a:t>NBIA Downloader</a:t>
            </a:r>
            <a:endParaRPr/>
          </a:p>
          <a:p>
            <a:pPr indent="0" lvl="0" marL="228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t/>
            </a:r>
            <a:endParaRPr/>
          </a:p>
          <a:p>
            <a:pPr indent="0" lvl="0" marL="228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en-US"/>
              <a:t>↓</a:t>
            </a:r>
            <a:endParaRPr/>
          </a:p>
          <a:p>
            <a:pPr indent="0" lvl="0" marL="228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t/>
            </a:r>
            <a:endParaRPr/>
          </a:p>
          <a:p>
            <a:pPr indent="0" lvl="0" marL="228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en-US"/>
              <a:t>244,000+ DICOM files</a:t>
            </a:r>
            <a:endParaRPr/>
          </a:p>
          <a:p>
            <a:pPr indent="0" lvl="0" marL="228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t/>
            </a:r>
            <a:endParaRPr/>
          </a:p>
          <a:p>
            <a:pPr indent="0" lvl="0" marL="228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en-US"/>
              <a:t>↓</a:t>
            </a:r>
            <a:endParaRPr/>
          </a:p>
          <a:p>
            <a:pPr indent="0" lvl="0" marL="228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t/>
            </a:r>
            <a:endParaRPr/>
          </a:p>
          <a:p>
            <a:pPr indent="0" lvl="0" marL="228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en-US"/>
              <a:t>PyLIDC</a:t>
            </a:r>
            <a:endParaRPr/>
          </a:p>
          <a:p>
            <a:pPr indent="0" lvl="0" marL="228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t/>
            </a:r>
            <a:endParaRPr/>
          </a:p>
          <a:p>
            <a:pPr indent="0" lvl="0" marL="228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en-US"/>
              <a:t>↓</a:t>
            </a:r>
            <a:endParaRPr/>
          </a:p>
          <a:p>
            <a:pPr indent="0" lvl="0" marL="228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t/>
            </a:r>
            <a:endParaRPr/>
          </a:p>
          <a:p>
            <a:pPr indent="0" lvl="0" marL="228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en-US"/>
              <a:t>Annotated tumors</a:t>
            </a:r>
            <a:endParaRPr/>
          </a:p>
          <a:p>
            <a:pPr indent="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111" name="Google Shape;111;p17"/>
          <p:cNvSpPr txBox="1"/>
          <p:nvPr>
            <p:ph type="title"/>
          </p:nvPr>
        </p:nvSpPr>
        <p:spPr>
          <a:xfrm>
            <a:off x="424346" y="365125"/>
            <a:ext cx="1001319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Impact"/>
              <a:buNone/>
            </a:pPr>
            <a:r>
              <a:rPr lang="en-US"/>
              <a:t>Dataset Structure and Download Pipeline</a:t>
            </a:r>
            <a:endParaRPr/>
          </a:p>
        </p:txBody>
      </p:sp>
      <p:sp>
        <p:nvSpPr>
          <p:cNvPr id="112" name="Google Shape;112;p17"/>
          <p:cNvSpPr txBox="1"/>
          <p:nvPr>
            <p:ph idx="5" type="body"/>
          </p:nvPr>
        </p:nvSpPr>
        <p:spPr>
          <a:xfrm>
            <a:off x="424346" y="6356350"/>
            <a:ext cx="1371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</a:pPr>
            <a:r>
              <a:rPr lang="en-US"/>
              <a:t>07/30/2026</a:t>
            </a:r>
            <a:endParaRPr/>
          </a:p>
        </p:txBody>
      </p:sp>
      <p:sp>
        <p:nvSpPr>
          <p:cNvPr id="113" name="Google Shape;113;p17"/>
          <p:cNvSpPr txBox="1"/>
          <p:nvPr>
            <p:ph idx="6" type="body"/>
          </p:nvPr>
        </p:nvSpPr>
        <p:spPr>
          <a:xfrm>
            <a:off x="2141034" y="6356350"/>
            <a:ext cx="611086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</a:pPr>
            <a:r>
              <a:rPr lang="en-US"/>
              <a:t>Brieleigh Wescott</a:t>
            </a:r>
            <a:endParaRPr/>
          </a:p>
        </p:txBody>
      </p:sp>
      <p:sp>
        <p:nvSpPr>
          <p:cNvPr id="114" name="Google Shape;114;p17"/>
          <p:cNvSpPr txBox="1"/>
          <p:nvPr>
            <p:ph idx="7" type="body"/>
          </p:nvPr>
        </p:nvSpPr>
        <p:spPr>
          <a:xfrm>
            <a:off x="8593873" y="6356350"/>
            <a:ext cx="1371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</a:pPr>
            <a:r>
              <a:rPr lang="en-US"/>
              <a:t>(Slide No.)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8"/>
          <p:cNvSpPr txBox="1"/>
          <p:nvPr>
            <p:ph type="title"/>
          </p:nvPr>
        </p:nvSpPr>
        <p:spPr>
          <a:xfrm>
            <a:off x="424346" y="365125"/>
            <a:ext cx="100131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Impact"/>
              <a:buNone/>
            </a:pPr>
            <a:r>
              <a:rPr lang="en-US"/>
              <a:t>Building 3D Tumors</a:t>
            </a:r>
            <a:endParaRPr/>
          </a:p>
        </p:txBody>
      </p:sp>
      <p:sp>
        <p:nvSpPr>
          <p:cNvPr id="120" name="Google Shape;120;p18"/>
          <p:cNvSpPr txBox="1"/>
          <p:nvPr>
            <p:ph idx="1" type="body"/>
          </p:nvPr>
        </p:nvSpPr>
        <p:spPr>
          <a:xfrm>
            <a:off x="429325" y="1419250"/>
            <a:ext cx="11252100" cy="14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/>
              <a:t>Workflow</a:t>
            </a:r>
            <a:endParaRPr b="1" sz="1300"/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Font typeface="Verdana"/>
              <a:buChar char="●"/>
            </a:pPr>
            <a:r>
              <a:rPr lang="en-US" sz="1300"/>
              <a:t>Load the complete CT scan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Verdana"/>
              <a:buChar char="●"/>
            </a:pPr>
            <a:r>
              <a:rPr lang="en-US" sz="1300"/>
              <a:t>Group annotations belonging to the same nodule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Verdana"/>
              <a:buChar char="●"/>
            </a:pPr>
            <a:r>
              <a:rPr lang="en-US" sz="1300"/>
              <a:t>Generate a consensus segmentation from multiple radiologists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Verdana"/>
              <a:buChar char="●"/>
            </a:pPr>
            <a:r>
              <a:rPr lang="en-US" sz="1300"/>
              <a:t>Create one 3D tumor mask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Verdana"/>
              <a:buChar char="●"/>
            </a:pPr>
            <a:r>
              <a:rPr lang="en-US" sz="1300"/>
              <a:t>Convert the CT volume and mask to NIfTI format</a:t>
            </a:r>
            <a:endParaRPr sz="1300"/>
          </a:p>
        </p:txBody>
      </p:sp>
      <p:sp>
        <p:nvSpPr>
          <p:cNvPr id="121" name="Google Shape;121;p18"/>
          <p:cNvSpPr txBox="1"/>
          <p:nvPr>
            <p:ph idx="3" type="body"/>
          </p:nvPr>
        </p:nvSpPr>
        <p:spPr>
          <a:xfrm>
            <a:off x="424346" y="6356350"/>
            <a:ext cx="1371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en-US"/>
              <a:t>07/30/2026</a:t>
            </a:r>
            <a:endParaRPr/>
          </a:p>
        </p:txBody>
      </p:sp>
      <p:sp>
        <p:nvSpPr>
          <p:cNvPr id="122" name="Google Shape;122;p18"/>
          <p:cNvSpPr txBox="1"/>
          <p:nvPr>
            <p:ph idx="4" type="body"/>
          </p:nvPr>
        </p:nvSpPr>
        <p:spPr>
          <a:xfrm>
            <a:off x="2141034" y="6356350"/>
            <a:ext cx="6111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</a:pPr>
            <a:r>
              <a:rPr lang="en-US"/>
              <a:t>Brieleigh Wescott</a:t>
            </a:r>
            <a:endParaRPr/>
          </a:p>
        </p:txBody>
      </p:sp>
      <p:sp>
        <p:nvSpPr>
          <p:cNvPr id="123" name="Google Shape;123;p18"/>
          <p:cNvSpPr txBox="1"/>
          <p:nvPr>
            <p:ph idx="5" type="body"/>
          </p:nvPr>
        </p:nvSpPr>
        <p:spPr>
          <a:xfrm>
            <a:off x="8593873" y="6356350"/>
            <a:ext cx="1371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</a:pPr>
            <a:r>
              <a:rPr lang="en-US"/>
              <a:t>(Slide No.)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24" name="Google Shape;12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6025" y="3114462"/>
            <a:ext cx="2720573" cy="27205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04950" y="3013875"/>
            <a:ext cx="2921774" cy="2921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70520" y="2782050"/>
            <a:ext cx="3153597" cy="31535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9"/>
          <p:cNvSpPr txBox="1"/>
          <p:nvPr>
            <p:ph type="title"/>
          </p:nvPr>
        </p:nvSpPr>
        <p:spPr>
          <a:xfrm>
            <a:off x="424346" y="365125"/>
            <a:ext cx="100131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Impact"/>
              <a:buNone/>
            </a:pPr>
            <a:r>
              <a:rPr lang="en-US"/>
              <a:t>Metadata/ Radiologist Annotations</a:t>
            </a:r>
            <a:endParaRPr/>
          </a:p>
        </p:txBody>
      </p:sp>
      <p:sp>
        <p:nvSpPr>
          <p:cNvPr id="132" name="Google Shape;132;p19"/>
          <p:cNvSpPr txBox="1"/>
          <p:nvPr>
            <p:ph idx="3" type="body"/>
          </p:nvPr>
        </p:nvSpPr>
        <p:spPr>
          <a:xfrm>
            <a:off x="424346" y="6356350"/>
            <a:ext cx="1371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en-US"/>
              <a:t>07/30/2026</a:t>
            </a:r>
            <a:endParaRPr/>
          </a:p>
        </p:txBody>
      </p:sp>
      <p:sp>
        <p:nvSpPr>
          <p:cNvPr id="133" name="Google Shape;133;p19"/>
          <p:cNvSpPr txBox="1"/>
          <p:nvPr>
            <p:ph idx="4" type="body"/>
          </p:nvPr>
        </p:nvSpPr>
        <p:spPr>
          <a:xfrm>
            <a:off x="2141034" y="6356350"/>
            <a:ext cx="6111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</a:pPr>
            <a:r>
              <a:rPr lang="en-US"/>
              <a:t>Brieleigh Wescott</a:t>
            </a:r>
            <a:endParaRPr/>
          </a:p>
        </p:txBody>
      </p:sp>
      <p:sp>
        <p:nvSpPr>
          <p:cNvPr id="134" name="Google Shape;134;p19"/>
          <p:cNvSpPr txBox="1"/>
          <p:nvPr>
            <p:ph idx="5" type="body"/>
          </p:nvPr>
        </p:nvSpPr>
        <p:spPr>
          <a:xfrm>
            <a:off x="8593873" y="6356350"/>
            <a:ext cx="1371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</a:pPr>
            <a:r>
              <a:rPr lang="en-US"/>
              <a:t>(Slide No.)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35" name="Google Shape;13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18975" y="1532500"/>
            <a:ext cx="3333444" cy="433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41282" y="1518888"/>
            <a:ext cx="3548988" cy="4360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0"/>
          <p:cNvSpPr txBox="1"/>
          <p:nvPr>
            <p:ph idx="1" type="body"/>
          </p:nvPr>
        </p:nvSpPr>
        <p:spPr>
          <a:xfrm>
            <a:off x="429322" y="1825625"/>
            <a:ext cx="48711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142" name="Google Shape;142;p20"/>
          <p:cNvSpPr txBox="1"/>
          <p:nvPr>
            <p:ph idx="3" type="body"/>
          </p:nvPr>
        </p:nvSpPr>
        <p:spPr>
          <a:xfrm>
            <a:off x="424346" y="6356350"/>
            <a:ext cx="1371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en-US"/>
              <a:t>07/30/2026</a:t>
            </a:r>
            <a:endParaRPr/>
          </a:p>
        </p:txBody>
      </p:sp>
      <p:sp>
        <p:nvSpPr>
          <p:cNvPr id="143" name="Google Shape;143;p20"/>
          <p:cNvSpPr txBox="1"/>
          <p:nvPr>
            <p:ph idx="4" type="body"/>
          </p:nvPr>
        </p:nvSpPr>
        <p:spPr>
          <a:xfrm>
            <a:off x="2141034" y="6356350"/>
            <a:ext cx="6111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</a:pPr>
            <a:r>
              <a:rPr lang="en-US"/>
              <a:t>Brieleigh Wescott</a:t>
            </a:r>
            <a:endParaRPr/>
          </a:p>
        </p:txBody>
      </p:sp>
      <p:sp>
        <p:nvSpPr>
          <p:cNvPr id="144" name="Google Shape;144;p20"/>
          <p:cNvSpPr txBox="1"/>
          <p:nvPr>
            <p:ph idx="5" type="body"/>
          </p:nvPr>
        </p:nvSpPr>
        <p:spPr>
          <a:xfrm>
            <a:off x="8593873" y="6356350"/>
            <a:ext cx="1371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</a:pPr>
            <a:r>
              <a:rPr lang="en-US"/>
              <a:t>(Slide No.)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45" name="Google Shape;14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9676" y="630886"/>
            <a:ext cx="4983951" cy="51343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20"/>
          <p:cNvPicPr preferRelativeResize="0"/>
          <p:nvPr/>
        </p:nvPicPr>
        <p:blipFill rotWithShape="1">
          <a:blip r:embed="rId4">
            <a:alphaModFix/>
          </a:blip>
          <a:srcRect b="0" l="35737" r="0" t="4058"/>
          <a:stretch/>
        </p:blipFill>
        <p:spPr>
          <a:xfrm>
            <a:off x="6306200" y="937775"/>
            <a:ext cx="5238461" cy="4360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1"/>
          <p:cNvSpPr txBox="1"/>
          <p:nvPr>
            <p:ph type="title"/>
          </p:nvPr>
        </p:nvSpPr>
        <p:spPr>
          <a:xfrm>
            <a:off x="424346" y="365125"/>
            <a:ext cx="100131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Impact"/>
              <a:buNone/>
            </a:pPr>
            <a:r>
              <a:rPr lang="en-US"/>
              <a:t>Shape Features</a:t>
            </a:r>
            <a:endParaRPr/>
          </a:p>
        </p:txBody>
      </p:sp>
      <p:sp>
        <p:nvSpPr>
          <p:cNvPr id="152" name="Google Shape;152;p21"/>
          <p:cNvSpPr txBox="1"/>
          <p:nvPr>
            <p:ph idx="1" type="body"/>
          </p:nvPr>
        </p:nvSpPr>
        <p:spPr>
          <a:xfrm>
            <a:off x="429322" y="1825625"/>
            <a:ext cx="48711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153" name="Google Shape;153;p21"/>
          <p:cNvSpPr txBox="1"/>
          <p:nvPr>
            <p:ph idx="3" type="body"/>
          </p:nvPr>
        </p:nvSpPr>
        <p:spPr>
          <a:xfrm>
            <a:off x="424346" y="6356350"/>
            <a:ext cx="1371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en-US"/>
              <a:t>07/30/2026</a:t>
            </a:r>
            <a:endParaRPr/>
          </a:p>
        </p:txBody>
      </p:sp>
      <p:sp>
        <p:nvSpPr>
          <p:cNvPr id="154" name="Google Shape;154;p21"/>
          <p:cNvSpPr txBox="1"/>
          <p:nvPr>
            <p:ph idx="4" type="body"/>
          </p:nvPr>
        </p:nvSpPr>
        <p:spPr>
          <a:xfrm>
            <a:off x="2141034" y="6356350"/>
            <a:ext cx="6111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</a:pPr>
            <a:r>
              <a:rPr lang="en-US"/>
              <a:t>Brieleigh Wescott</a:t>
            </a:r>
            <a:endParaRPr/>
          </a:p>
        </p:txBody>
      </p:sp>
      <p:sp>
        <p:nvSpPr>
          <p:cNvPr id="155" name="Google Shape;155;p21"/>
          <p:cNvSpPr txBox="1"/>
          <p:nvPr>
            <p:ph idx="5" type="body"/>
          </p:nvPr>
        </p:nvSpPr>
        <p:spPr>
          <a:xfrm>
            <a:off x="8593873" y="6356350"/>
            <a:ext cx="1371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</a:pPr>
            <a:r>
              <a:rPr lang="en-US"/>
              <a:t>(Slide No.)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156" name="Google Shape;156;p21"/>
          <p:cNvGraphicFramePr/>
          <p:nvPr/>
        </p:nvGraphicFramePr>
        <p:xfrm>
          <a:off x="429325" y="1690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{48C51469-05EE-479F-B6C6-1B33CCF1E28D}</a:tableStyleId>
              </a:tblPr>
              <a:tblGrid>
                <a:gridCol w="1638300"/>
                <a:gridCol w="2971800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Feature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What it Measures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Volume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Total size of the tumor (mm³)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Surface Area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Total outer surface of the tumor (mm²)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Maximum 3D Diameter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Longest distance across the tumor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Sphericity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How closely the tumor resembles a sphere (0–1)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Elongation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How stretched the tumor is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Flatness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How compressed or flattened the tumor is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Surface-to-Volume Ratio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Surface complexity relative to tumor size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157" name="Google Shape;15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62497" y="819850"/>
            <a:ext cx="5905992" cy="4360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2"/>
          <p:cNvSpPr txBox="1"/>
          <p:nvPr>
            <p:ph type="title"/>
          </p:nvPr>
        </p:nvSpPr>
        <p:spPr>
          <a:xfrm>
            <a:off x="424346" y="365125"/>
            <a:ext cx="100131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Impact"/>
              <a:buNone/>
            </a:pPr>
            <a:r>
              <a:rPr lang="en-US"/>
              <a:t>Future Goals</a:t>
            </a:r>
            <a:endParaRPr/>
          </a:p>
        </p:txBody>
      </p:sp>
      <p:sp>
        <p:nvSpPr>
          <p:cNvPr id="163" name="Google Shape;163;p22"/>
          <p:cNvSpPr txBox="1"/>
          <p:nvPr>
            <p:ph idx="1" type="body"/>
          </p:nvPr>
        </p:nvSpPr>
        <p:spPr>
          <a:xfrm>
            <a:off x="429325" y="1690825"/>
            <a:ext cx="5005200" cy="4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00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00"/>
              <a:buAutoNum type="arabicPeriod"/>
            </a:pPr>
            <a:r>
              <a:rPr lang="en-US" sz="2700"/>
              <a:t>Changing Column Names</a:t>
            </a:r>
            <a:endParaRPr sz="2700"/>
          </a:p>
          <a:p>
            <a:pPr indent="-4000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00"/>
              <a:buAutoNum type="arabicPeriod"/>
            </a:pPr>
            <a:r>
              <a:rPr lang="en-US" sz="2700"/>
              <a:t>Radiomics Document</a:t>
            </a:r>
            <a:endParaRPr sz="2700"/>
          </a:p>
          <a:p>
            <a:pPr indent="-4000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00"/>
              <a:buAutoNum type="arabicPeriod"/>
            </a:pPr>
            <a:r>
              <a:rPr lang="en-US" sz="2700"/>
              <a:t>Organize Dataset</a:t>
            </a:r>
            <a:endParaRPr sz="2700"/>
          </a:p>
          <a:p>
            <a:pPr indent="-4000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00"/>
              <a:buAutoNum type="arabicPeriod"/>
            </a:pPr>
            <a:r>
              <a:rPr lang="en-US" sz="2700"/>
              <a:t>Start Exploring trends and more visualizations</a:t>
            </a:r>
            <a:endParaRPr sz="2700"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164" name="Google Shape;164;p22"/>
          <p:cNvSpPr txBox="1"/>
          <p:nvPr>
            <p:ph idx="3" type="body"/>
          </p:nvPr>
        </p:nvSpPr>
        <p:spPr>
          <a:xfrm>
            <a:off x="424346" y="6356350"/>
            <a:ext cx="1371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</a:pPr>
            <a:r>
              <a:rPr lang="en-US"/>
              <a:t>07/30/2026</a:t>
            </a:r>
            <a:endParaRPr/>
          </a:p>
        </p:txBody>
      </p:sp>
      <p:sp>
        <p:nvSpPr>
          <p:cNvPr id="165" name="Google Shape;165;p22"/>
          <p:cNvSpPr txBox="1"/>
          <p:nvPr>
            <p:ph idx="4" type="body"/>
          </p:nvPr>
        </p:nvSpPr>
        <p:spPr>
          <a:xfrm>
            <a:off x="2141034" y="6356350"/>
            <a:ext cx="6111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</a:pPr>
            <a:r>
              <a:rPr lang="en-US"/>
              <a:t>Footer Space</a:t>
            </a:r>
            <a:endParaRPr/>
          </a:p>
        </p:txBody>
      </p:sp>
      <p:sp>
        <p:nvSpPr>
          <p:cNvPr id="166" name="Google Shape;166;p22"/>
          <p:cNvSpPr txBox="1"/>
          <p:nvPr>
            <p:ph idx="5" type="body"/>
          </p:nvPr>
        </p:nvSpPr>
        <p:spPr>
          <a:xfrm>
            <a:off x="8593873" y="6356350"/>
            <a:ext cx="1371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</a:pPr>
            <a:r>
              <a:rPr lang="en-US"/>
              <a:t>(Slide No.)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67" name="Google Shape;16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34550" y="676325"/>
            <a:ext cx="6589926" cy="51255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in Content">
  <a:themeElements>
    <a:clrScheme name="FL Tech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830C2C"/>
      </a:accent1>
      <a:accent2>
        <a:srgbClr val="AB936C"/>
      </a:accent2>
      <a:accent3>
        <a:srgbClr val="A5A5A5"/>
      </a:accent3>
      <a:accent4>
        <a:srgbClr val="F39028"/>
      </a:accent4>
      <a:accent5>
        <a:srgbClr val="00556B"/>
      </a:accent5>
      <a:accent6>
        <a:srgbClr val="FBC544"/>
      </a:accent6>
      <a:hlink>
        <a:srgbClr val="084771"/>
      </a:hlink>
      <a:folHlink>
        <a:srgbClr val="5D226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Cover/Closing Slide">
  <a:themeElements>
    <a:clrScheme name="FL Tech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830C2C"/>
      </a:accent1>
      <a:accent2>
        <a:srgbClr val="AB936C"/>
      </a:accent2>
      <a:accent3>
        <a:srgbClr val="A5A5A5"/>
      </a:accent3>
      <a:accent4>
        <a:srgbClr val="F39028"/>
      </a:accent4>
      <a:accent5>
        <a:srgbClr val="00556B"/>
      </a:accent5>
      <a:accent6>
        <a:srgbClr val="FBC544"/>
      </a:accent6>
      <a:hlink>
        <a:srgbClr val="084771"/>
      </a:hlink>
      <a:folHlink>
        <a:srgbClr val="5D226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